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C5E911-5616-4D85-B388-6B358DEAE514}">
  <a:tblStyle styleId="{F5C5E911-5616-4D85-B388-6B358DEAE5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683808c2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683808c2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683808c2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683808c27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83808c27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83808c27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83808c27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83808c27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683808c27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683808c27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83808c27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683808c27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83808c27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683808c27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83808c27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683808c27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83808c27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683808c27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83808c27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83808c27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683808c27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683808c27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20529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American Sign Language Recognition Using Machine Learning Models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l" sz="2000" b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Electronics, Telecommunications and Informatics</a:t>
            </a:r>
            <a:endParaRPr sz="2000" b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l" sz="2000" b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Aveiro, Portugal</a:t>
            </a:r>
            <a:endParaRPr sz="2000" b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3423000"/>
            <a:ext cx="7688100" cy="1235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0D351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l" sz="576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Solomonidi Eleftheria, 130364</a:t>
            </a:r>
            <a:endParaRPr sz="576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l" sz="576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Bilal el Hanane, 130152</a:t>
            </a:r>
            <a:endParaRPr sz="576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9270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Motivation &amp; Problem Description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1873250"/>
            <a:ext cx="7688700" cy="29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between Deaf ASL users and non-signers is often limited.</a:t>
            </a:r>
            <a:b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ASL recognition can support more accessible human–machine interaction.</a:t>
            </a:r>
            <a:b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identify 24 ASL hand gestures from 28×28 grayscale images.</a:t>
            </a:r>
            <a:b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trained and evaluated using the Sign Language MNIST dataset from Kaggle.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7650" y="969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Dataset Overview &amp; Image Characteristics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29450" y="1576925"/>
            <a:ext cx="7688700" cy="3365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contains grayscale images of static ASL hand signs, </a:t>
            </a:r>
            <a:r>
              <a:rPr lang="el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28×28 pixels.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class has hundreds of samples, allowing supervised model training.</a:t>
            </a:r>
            <a:b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are normalized (vector (1,784)) and split into training, validation, and test sets before modeling.</a:t>
            </a:r>
            <a:endParaRPr sz="150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800" y="2064600"/>
            <a:ext cx="3634175" cy="118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27650" y="9164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Baseline &amp; Transition to the MLP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729450" y="1735675"/>
            <a:ext cx="7688700" cy="275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Baseline:</a:t>
            </a: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Logistic Regression used as a simple one-vs-rest classifier. Provides a reference accuracy and confirms the task is learnable, but performance is limited.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●"/>
            </a:pP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MLP:</a:t>
            </a: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Non-linear relationships in hand shapes require a deeper model. MLP is a neural network with hidden layers and non-linear activations that learns increasingly high feature representations, allowing it to model complex patterns that linear methods cannot.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71775" y="9588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Neural Network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7" title="n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00" y="1710275"/>
            <a:ext cx="5474525" cy="28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5685400" y="1985500"/>
            <a:ext cx="31482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l" sz="1500">
                <a:latin typeface="Times New Roman"/>
                <a:ea typeface="Times New Roman"/>
                <a:cs typeface="Times New Roman"/>
                <a:sym typeface="Times New Roman"/>
              </a:rPr>
              <a:t>Input images are flattened from 28×28 to 784 features.</a:t>
            </a:r>
            <a:br>
              <a:rPr lang="el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l" sz="1500">
                <a:latin typeface="Times New Roman"/>
                <a:ea typeface="Times New Roman"/>
                <a:cs typeface="Times New Roman"/>
                <a:sym typeface="Times New Roman"/>
              </a:rPr>
              <a:t>A hidden layer with ReLU activation learns non-linear patterns in hand shapes.</a:t>
            </a:r>
            <a:br>
              <a:rPr lang="el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l" sz="1500">
                <a:latin typeface="Times New Roman"/>
                <a:ea typeface="Times New Roman"/>
                <a:cs typeface="Times New Roman"/>
                <a:sym typeface="Times New Roman"/>
              </a:rPr>
              <a:t>Output layer has 24 neurons, one for each ASL class.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727650" y="1001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1"/>
          </p:nvPr>
        </p:nvSpPr>
        <p:spPr>
          <a:xfrm>
            <a:off x="213775" y="1536350"/>
            <a:ext cx="4148700" cy="3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Layer Size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8" title="hl_siz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25" y="1951575"/>
            <a:ext cx="3719496" cy="28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>
            <a:spLocks noGrp="1"/>
          </p:cNvSpPr>
          <p:nvPr>
            <p:ph type="body" idx="1"/>
          </p:nvPr>
        </p:nvSpPr>
        <p:spPr>
          <a:xfrm>
            <a:off x="4472500" y="1536350"/>
            <a:ext cx="4148700" cy="3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 (e.g. hidden layer size =64)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8" title="lr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475" y="1951575"/>
            <a:ext cx="4044125" cy="280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727650" y="1001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213775" y="1536350"/>
            <a:ext cx="4148700" cy="3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Regularization Strength (λ)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1"/>
          </p:nvPr>
        </p:nvSpPr>
        <p:spPr>
          <a:xfrm>
            <a:off x="4472500" y="1536350"/>
            <a:ext cx="4148700" cy="3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Number of Iterations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19" title="max_it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574" y="1995699"/>
            <a:ext cx="3887775" cy="28979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" name="Google Shape;136;p19"/>
          <p:cNvGraphicFramePr/>
          <p:nvPr/>
        </p:nvGraphicFramePr>
        <p:xfrm>
          <a:off x="425425" y="2084850"/>
          <a:ext cx="3746500" cy="2407740"/>
        </p:xfrm>
        <a:graphic>
          <a:graphicData uri="http://schemas.openxmlformats.org/drawingml/2006/table">
            <a:tbl>
              <a:tblPr>
                <a:noFill/>
                <a:tableStyleId>{F5C5E911-5616-4D85-B388-6B358DEAE514}</a:tableStyleId>
              </a:tblPr>
              <a:tblGrid>
                <a:gridCol w="89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λ</a:t>
                      </a:r>
                      <a:endParaRPr sz="1100" b="1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 accuracy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 loss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iterations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0.99891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0.04663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0.00001</a:t>
                      </a:r>
                      <a:endParaRPr sz="15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0.99927 </a:t>
                      </a:r>
                      <a:endParaRPr sz="15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0.04217</a:t>
                      </a:r>
                      <a:endParaRPr sz="15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</a:t>
                      </a:r>
                      <a:endParaRPr sz="15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0.99745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0.06699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0.99818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0.06443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0.99782 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0.08300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43000" y="958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 Final Model Configuration &amp;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1"/>
          </p:nvPr>
        </p:nvSpPr>
        <p:spPr>
          <a:xfrm>
            <a:off x="642988" y="1494025"/>
            <a:ext cx="2796900" cy="22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Hyperparameters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44" name="Google Shape;144;p20"/>
          <p:cNvGraphicFramePr/>
          <p:nvPr/>
        </p:nvGraphicFramePr>
        <p:xfrm>
          <a:off x="765463" y="2106050"/>
          <a:ext cx="2337525" cy="1401960"/>
        </p:xfrm>
        <a:graphic>
          <a:graphicData uri="http://schemas.openxmlformats.org/drawingml/2006/table">
            <a:tbl>
              <a:tblPr>
                <a:noFill/>
                <a:tableStyleId>{F5C5E911-5616-4D85-B388-6B358DEAE514}</a:tableStyleId>
              </a:tblPr>
              <a:tblGrid>
                <a:gridCol w="159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Hidden layer size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64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Learning rate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0.0001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Regularization (L2)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0.001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Maximum iterations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60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5" name="Google Shape;145;p20"/>
          <p:cNvSpPr txBox="1">
            <a:spLocks noGrp="1"/>
          </p:cNvSpPr>
          <p:nvPr>
            <p:ph type="body" idx="1"/>
          </p:nvPr>
        </p:nvSpPr>
        <p:spPr>
          <a:xfrm>
            <a:off x="3103005" y="1315605"/>
            <a:ext cx="5541900" cy="3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Function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765475" y="3676450"/>
            <a:ext cx="2437200" cy="10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</a:t>
            </a:r>
            <a:r>
              <a:rPr lang="el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99.8867%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accuracy</a:t>
            </a:r>
            <a:r>
              <a:rPr lang="el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99.6723%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r>
              <a:rPr lang="el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72.49%</a:t>
            </a:r>
            <a:endParaRPr/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413" y="1862650"/>
            <a:ext cx="3665085" cy="29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729450" y="958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Data Augmentation &amp; Impact on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729450" y="1494025"/>
            <a:ext cx="7688700" cy="28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1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90"/>
              <a:buFont typeface="Times New Roman"/>
              <a:buChar char="●"/>
            </a:pP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training set, 2</a:t>
            </a:r>
            <a:r>
              <a:rPr lang="el" sz="12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el" sz="1575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24709 images</a:t>
            </a: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total, using rotations, shifts, and brightness changes. These transformations create </a:t>
            </a:r>
            <a:r>
              <a:rPr lang="el" sz="15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slightly different versions</a:t>
            </a: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same hand sign.</a:t>
            </a: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861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Times New Roman"/>
              <a:buChar char="●"/>
            </a:pP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the model handle small changes in </a:t>
            </a:r>
            <a:r>
              <a:rPr lang="el" sz="15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orientation, position, and lighting</a:t>
            </a: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861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Times New Roman"/>
              <a:buChar char="●"/>
            </a:pP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 improved from </a:t>
            </a:r>
            <a:r>
              <a:rPr lang="el" sz="15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72.49% → 82.77%</a:t>
            </a:r>
            <a:r>
              <a:rPr lang="el"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051" y="2179274"/>
            <a:ext cx="3963999" cy="16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579500" y="747150"/>
            <a:ext cx="76887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 Configuration &amp;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for Augmented 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579500" y="1563525"/>
            <a:ext cx="2796900" cy="22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Hyperparameters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63" name="Google Shape;163;p22"/>
          <p:cNvGraphicFramePr/>
          <p:nvPr/>
        </p:nvGraphicFramePr>
        <p:xfrm>
          <a:off x="694538" y="2116650"/>
          <a:ext cx="2337525" cy="1401960"/>
        </p:xfrm>
        <a:graphic>
          <a:graphicData uri="http://schemas.openxmlformats.org/drawingml/2006/table">
            <a:tbl>
              <a:tblPr>
                <a:noFill/>
                <a:tableStyleId>{F5C5E911-5616-4D85-B388-6B358DEAE514}</a:tableStyleId>
              </a:tblPr>
              <a:tblGrid>
                <a:gridCol w="159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Hidden layer size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64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Learning rate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0.0001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Regularization (L2)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0.001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Maximum iterations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/>
                        <a:t>60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Google Shape;164;p22"/>
          <p:cNvSpPr txBox="1">
            <a:spLocks noGrp="1"/>
          </p:cNvSpPr>
          <p:nvPr>
            <p:ph type="body" idx="1"/>
          </p:nvPr>
        </p:nvSpPr>
        <p:spPr>
          <a:xfrm>
            <a:off x="3198249" y="1494025"/>
            <a:ext cx="5541900" cy="3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Function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body" idx="1"/>
          </p:nvPr>
        </p:nvSpPr>
        <p:spPr>
          <a:xfrm>
            <a:off x="694400" y="3676450"/>
            <a:ext cx="2567100" cy="10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Accuracy: 97.9400%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Validation Accuracy: 99.8908%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l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Test Accuracy: 82.7663%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851" y="1788575"/>
            <a:ext cx="4224275" cy="33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29450" y="9799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Test Set Inconsistencies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792950" y="2097625"/>
            <a:ext cx="6374100" cy="23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test images do not match the official ASL gestures for their assigned labels. Example: class 24 shows a hand pose in the test set that is not an ASL letter.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is evaluated on </a:t>
            </a:r>
            <a:r>
              <a:rPr lang="el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 or mismatched labels</a:t>
            </a: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test accuracy </a:t>
            </a:r>
            <a:r>
              <a:rPr lang="el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underestimates the true performance</a:t>
            </a:r>
            <a:r>
              <a:rPr lang="el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model.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23" descr="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9163" y="1229775"/>
            <a:ext cx="105727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>
            <a:spLocks noGrp="1"/>
          </p:cNvSpPr>
          <p:nvPr>
            <p:ph type="body" idx="1"/>
          </p:nvPr>
        </p:nvSpPr>
        <p:spPr>
          <a:xfrm>
            <a:off x="7396263" y="1030775"/>
            <a:ext cx="803100" cy="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l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Letter Y</a:t>
            </a:r>
            <a:endParaRPr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792950" y="9482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727650" y="1877475"/>
            <a:ext cx="7688700" cy="25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l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simple linear baseline, but cannot capture the complexity of ASL signs.</a:t>
            </a:r>
            <a:b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l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MLP</a:t>
            </a: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better classifier for this task because it models non-linear gesture patterns.</a:t>
            </a:r>
            <a:b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l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Augmentation </a:t>
            </a:r>
            <a:r>
              <a:rPr lang="el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significantly improved generalization on the test set.</a:t>
            </a:r>
            <a:br>
              <a:rPr lang="el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l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 try </a:t>
            </a:r>
            <a:r>
              <a:rPr lang="el" sz="1600" b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CNNs</a:t>
            </a:r>
            <a:r>
              <a:rPr lang="el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more augmentation, and improved dataset quality.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Microsoft Office PowerPoint</Application>
  <PresentationFormat>Προβολή στην οθόνη (16:9)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12</vt:i4>
      </vt:variant>
    </vt:vector>
  </HeadingPairs>
  <TitlesOfParts>
    <vt:vector size="17" baseType="lpstr">
      <vt:lpstr>Arial</vt:lpstr>
      <vt:lpstr>Raleway</vt:lpstr>
      <vt:lpstr>Lato</vt:lpstr>
      <vt:lpstr>Times New Roman</vt:lpstr>
      <vt:lpstr>Streamline</vt:lpstr>
      <vt:lpstr>American Sign Language Recognition Using Machine Learning Models Department of Electronics, Telecommunications and Informatics University of Aveiro, Portugal</vt:lpstr>
      <vt:lpstr>Motivation &amp; Problem Description</vt:lpstr>
      <vt:lpstr>Dataset Overview &amp; Image Characteristics</vt:lpstr>
      <vt:lpstr>Baseline &amp; Transition to the MLP Model</vt:lpstr>
      <vt:lpstr>Neural Network Architecture</vt:lpstr>
      <vt:lpstr>Hyperparameter tuning</vt:lpstr>
      <vt:lpstr>Hyperparameter tuning</vt:lpstr>
      <vt:lpstr> Final Model Configuration &amp; Performance</vt:lpstr>
      <vt:lpstr>Data Augmentation &amp; Impact on Performance</vt:lpstr>
      <vt:lpstr> Configuration &amp; Performance for Augmented Dataset</vt:lpstr>
      <vt:lpstr>Test Set Inconsistencies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ΣΟΛΟΜΩΝΙΔΗ ΕΛΕΥΘΕΡΙΑ</cp:lastModifiedBy>
  <cp:revision>1</cp:revision>
  <dcterms:modified xsi:type="dcterms:W3CDTF">2025-11-19T22:01:27Z</dcterms:modified>
</cp:coreProperties>
</file>